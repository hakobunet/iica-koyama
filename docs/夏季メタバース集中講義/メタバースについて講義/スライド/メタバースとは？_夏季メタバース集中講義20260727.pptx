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D73487-4B9A-4EB3-AE3C-88ED599BB840}">
  <a:tblStyle styleId="{B8D73487-4B9A-4EB3-AE3C-88ED599BB84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a7760ed2_2_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f5a7760ed2_2_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f5a7760ed2_2_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a7760ed2_2_2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5a7760ed2_2_2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f5a7760ed2_2_2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5a7760ed2_2_57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f5a7760ed2_2_57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f5a7760ed2_2_57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5a7760ed2_2_90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f5a7760ed2_2_90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f5a7760ed2_2_90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5a7760ed2_2_125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5a7760ed2_2_125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5a7760ed2_2_125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5a7760ed2_2_16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f5a7760ed2_2_16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5a7760ed2_2_16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5a7760ed2_2_181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f5a7760ed2_2_181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f5a7760ed2_2_181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5a7760ed2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g3f5a7760ed2_0_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f5a7760ed2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5a7760ed2_2_206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f5a7760ed2_2_206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5a7760ed2_2_206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5a7760ed2_2_28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f5a7760ed2_2_28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5a7760ed2_2_28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5a7760ed2_2_302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g3f5a7760ed2_2_302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f5a7760ed2_2_302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5a7760ed2_2_32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5a7760ed2_2_32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f5a7760ed2_2_32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5a7760ed2_2_248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g3f5a7760ed2_2_248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f5a7760ed2_2_248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28.png"/><Relationship Id="rId7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0.png"/><Relationship Id="rId7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7269480" y="-822960"/>
            <a:ext cx="3154680" cy="3154680"/>
          </a:xfrm>
          <a:prstGeom prst="ellipse">
            <a:avLst/>
          </a:prstGeom>
          <a:solidFill>
            <a:srgbClr val="00C2E0">
              <a:alpha val="1803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7955280" y="3154680"/>
            <a:ext cx="2194560" cy="2194560"/>
          </a:xfrm>
          <a:prstGeom prst="ellipse">
            <a:avLst/>
          </a:prstGeom>
          <a:solidFill>
            <a:srgbClr val="FF3D81">
              <a:alpha val="1607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-685800" y="3360420"/>
            <a:ext cx="2468880" cy="2468880"/>
          </a:xfrm>
          <a:prstGeom prst="ellipse">
            <a:avLst/>
          </a:prstGeom>
          <a:solidFill>
            <a:srgbClr val="00C2E0">
              <a:alpha val="12157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1097280" y="617220"/>
            <a:ext cx="754380" cy="754380"/>
          </a:xfrm>
          <a:prstGeom prst="ellipse">
            <a:avLst/>
          </a:prstGeom>
          <a:solidFill>
            <a:srgbClr val="FF3D81">
              <a:alpha val="2196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80060" y="925830"/>
            <a:ext cx="1495044" cy="260604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480060" y="925830"/>
            <a:ext cx="1495044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ハッカソン 1日目 1限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45770" y="1783080"/>
            <a:ext cx="78867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Calibri"/>
              <a:buNone/>
            </a:pPr>
            <a:r>
              <a:rPr b="1" i="0" lang="ja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メタバースとは？</a:t>
            </a:r>
            <a:endParaRPr b="0" i="0" sz="4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80060" y="270891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C9EE"/>
              </a:buClr>
              <a:buSzPts val="1500"/>
              <a:buFont typeface="Calibri"/>
              <a:buNone/>
            </a:pPr>
            <a:r>
              <a:rPr b="0" i="0" lang="ja" sz="1500" u="none" cap="none" strike="noStrike">
                <a:solidFill>
                  <a:srgbClr val="CFC9EE"/>
                </a:solidFill>
                <a:latin typeface="Calibri"/>
                <a:ea typeface="Calibri"/>
                <a:cs typeface="Calibri"/>
                <a:sym typeface="Calibri"/>
              </a:rPr>
              <a:t>開会式オリエンテーション　導入資料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7475220" y="3806190"/>
            <a:ext cx="788670" cy="78867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ube_3d_white.png"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7747" y="3908717"/>
            <a:ext cx="583615" cy="58361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D6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A79FD6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9FD6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A79FD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377190" y="288036"/>
            <a:ext cx="750951" cy="260604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377190" y="288036"/>
            <a:ext cx="7509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歴史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メタバースの語源・歴史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9" name="Google Shape;79;p16"/>
          <p:cNvCxnSpPr/>
          <p:nvPr/>
        </p:nvCxnSpPr>
        <p:spPr>
          <a:xfrm>
            <a:off x="1375886" y="1920240"/>
            <a:ext cx="6506527" cy="0"/>
          </a:xfrm>
          <a:prstGeom prst="straightConnector1">
            <a:avLst/>
          </a:prstGeom>
          <a:noFill/>
          <a:ln cap="flat" cmpd="sng" w="25400">
            <a:solidFill>
              <a:srgbClr val="DAD6E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80" name="Google Shape;80;p16"/>
          <p:cNvSpPr/>
          <p:nvPr/>
        </p:nvSpPr>
        <p:spPr>
          <a:xfrm>
            <a:off x="1101566" y="1268730"/>
            <a:ext cx="548640" cy="54864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book_white.png" id="81" name="Google Shape;8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890" y="1340054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411480" y="2057400"/>
            <a:ext cx="1928813" cy="2434590"/>
          </a:xfrm>
          <a:prstGeom prst="roundRect">
            <a:avLst>
              <a:gd fmla="val 2844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411480" y="2160270"/>
            <a:ext cx="19288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700"/>
              <a:buFont typeface="Calibri"/>
              <a:buNone/>
            </a:pPr>
            <a:r>
              <a:rPr b="1" i="0" lang="ja" sz="17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1992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514350" y="2537460"/>
            <a:ext cx="17230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「メタバース」誕生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534924" y="2983230"/>
            <a:ext cx="1681925" cy="1337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SF作家ニール・スティーヴンスンの小説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『スノウ・クラッシュ』内の造語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（meta＋universe）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270409" y="1268730"/>
            <a:ext cx="548640" cy="54864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history_white.png"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1732" y="1340054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6"/>
          <p:cNvSpPr/>
          <p:nvPr/>
        </p:nvSpPr>
        <p:spPr>
          <a:xfrm>
            <a:off x="2580323" y="2057400"/>
            <a:ext cx="1928813" cy="2434590"/>
          </a:xfrm>
          <a:prstGeom prst="roundRect">
            <a:avLst>
              <a:gd fmla="val 2844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2580323" y="2160270"/>
            <a:ext cx="19288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700"/>
              <a:buFont typeface="Calibri"/>
              <a:buNone/>
            </a:pPr>
            <a:r>
              <a:rPr b="1" i="0" lang="ja" sz="17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2003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2683193" y="2537460"/>
            <a:ext cx="17230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Second Life 公開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703766" y="2983230"/>
            <a:ext cx="1681925" cy="1337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UGC・仮想通貨・土地売買を備えた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初期メタバースの代表例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（一時ブームも定着せず縮小）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5439251" y="1268730"/>
            <a:ext cx="548640" cy="54864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rocket_white.png" id="93" name="Google Shape;9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0575" y="1340054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4749165" y="2057400"/>
            <a:ext cx="1928813" cy="2434590"/>
          </a:xfrm>
          <a:prstGeom prst="roundRect">
            <a:avLst>
              <a:gd fmla="val 2844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4749165" y="2160270"/>
            <a:ext cx="19288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700"/>
              <a:buFont typeface="Calibri"/>
              <a:buNone/>
            </a:pPr>
            <a:r>
              <a:rPr b="1" i="0" lang="ja" sz="17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2021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4852035" y="2537460"/>
            <a:ext cx="172307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「メタバース元年」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872609" y="2983230"/>
            <a:ext cx="1681925" cy="1337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Facebook社が社名を「Meta」に変更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事業の軸足をメタバースへ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→世界的にバズワード化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7608094" y="1268730"/>
            <a:ext cx="548640" cy="54864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hart_line_white.png" id="99" name="Google Shape;9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79417" y="1340054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/>
          <p:nvPr/>
        </p:nvSpPr>
        <p:spPr>
          <a:xfrm>
            <a:off x="6918008" y="2057400"/>
            <a:ext cx="1928813" cy="2434590"/>
          </a:xfrm>
          <a:prstGeom prst="roundRect">
            <a:avLst>
              <a:gd fmla="val 2844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6918008" y="2160270"/>
            <a:ext cx="1928813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3D81"/>
              </a:buClr>
              <a:buSzPts val="1700"/>
              <a:buFont typeface="Calibri"/>
              <a:buNone/>
            </a:pPr>
            <a:r>
              <a:rPr b="1" i="0" lang="ja" sz="1700" u="none" cap="none" strike="noStrike">
                <a:solidFill>
                  <a:srgbClr val="FF3D81"/>
                </a:solidFill>
                <a:latin typeface="Calibri"/>
                <a:ea typeface="Calibri"/>
                <a:cs typeface="Calibri"/>
                <a:sym typeface="Calibri"/>
              </a:rPr>
              <a:t>現在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7020877" y="2537460"/>
            <a:ext cx="1723073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ゲーム型が先行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7041452" y="2983230"/>
            <a:ext cx="1681924" cy="13373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Horizon Worldsは苦戦する一方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Roblox・Fortniteなど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「ゲーム型メタバース」が先行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377190" y="288036"/>
            <a:ext cx="750951" cy="260604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77190" y="288036"/>
            <a:ext cx="7509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定義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メタバースの定義：共通する4つの要素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377190" y="106299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1000"/>
              <a:buFont typeface="Calibri"/>
              <a:buNone/>
            </a:pPr>
            <a:r>
              <a:rPr b="0" i="0" lang="ja" sz="10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業界統一の厳密な定義はないが、語られる際に共通して出てくる要素は次の4つ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377190" y="1474470"/>
            <a:ext cx="4080510" cy="1337310"/>
          </a:xfrm>
          <a:prstGeom prst="roundRect">
            <a:avLst>
              <a:gd fmla="val 410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7"/>
          <p:cNvSpPr/>
          <p:nvPr/>
        </p:nvSpPr>
        <p:spPr>
          <a:xfrm>
            <a:off x="548640" y="1645920"/>
            <a:ext cx="480060" cy="48006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ube_3d_white.png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048" y="1708328"/>
            <a:ext cx="355244" cy="35524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1131570" y="1625346"/>
            <a:ext cx="31889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300"/>
              <a:buFont typeface="Calibri"/>
              <a:buNone/>
            </a:pPr>
            <a:r>
              <a:rPr b="1" i="0" lang="ja" sz="1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3D仮想空間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131570" y="1988820"/>
            <a:ext cx="31889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平面のWebページやアプリではなく、奥行きのある空間としてコンテンツが存在する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4663440" y="1474470"/>
            <a:ext cx="4080510" cy="1337310"/>
          </a:xfrm>
          <a:prstGeom prst="roundRect">
            <a:avLst>
              <a:gd fmla="val 410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7"/>
          <p:cNvSpPr/>
          <p:nvPr/>
        </p:nvSpPr>
        <p:spPr>
          <a:xfrm>
            <a:off x="4834890" y="1645920"/>
            <a:ext cx="480060" cy="48006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avatar_white.png" id="123" name="Google Shape;1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7298" y="1708328"/>
            <a:ext cx="355244" cy="35524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/>
          <p:nvPr/>
        </p:nvSpPr>
        <p:spPr>
          <a:xfrm>
            <a:off x="5417820" y="1625346"/>
            <a:ext cx="31889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300"/>
              <a:buFont typeface="Calibri"/>
              <a:buNone/>
            </a:pPr>
            <a:r>
              <a:rPr b="1" i="0" lang="ja" sz="1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アバター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7"/>
          <p:cNvSpPr/>
          <p:nvPr/>
        </p:nvSpPr>
        <p:spPr>
          <a:xfrm>
            <a:off x="5417820" y="1988820"/>
            <a:ext cx="31889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ユーザーは自分の分身（アバター）を介して空間内に存在し、他者から見える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7"/>
          <p:cNvSpPr/>
          <p:nvPr/>
        </p:nvSpPr>
        <p:spPr>
          <a:xfrm>
            <a:off x="377190" y="3017520"/>
            <a:ext cx="4080510" cy="1337310"/>
          </a:xfrm>
          <a:prstGeom prst="roundRect">
            <a:avLst>
              <a:gd fmla="val 410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548640" y="3188970"/>
            <a:ext cx="480060" cy="48006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users_group_white.png" id="128" name="Google Shape;1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048" y="3251377"/>
            <a:ext cx="355244" cy="35524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1131570" y="3168396"/>
            <a:ext cx="31889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300"/>
              <a:buFont typeface="Calibri"/>
              <a:buNone/>
            </a:pPr>
            <a:r>
              <a:rPr b="1" i="0" lang="ja" sz="1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同時性・多人数性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1131570" y="3531870"/>
            <a:ext cx="31889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複数のユーザーが同じ空間・同じ時間軸を共有し、リアルタイムに交流できる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/>
          <p:nvPr/>
        </p:nvSpPr>
        <p:spPr>
          <a:xfrm>
            <a:off x="4663440" y="3017520"/>
            <a:ext cx="4080510" cy="1337310"/>
          </a:xfrm>
          <a:prstGeom prst="roundRect">
            <a:avLst>
              <a:gd fmla="val 410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>
            <a:off x="4834890" y="3188970"/>
            <a:ext cx="480060" cy="48006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oins_white.png" id="133" name="Google Shape;13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97298" y="3251377"/>
            <a:ext cx="355244" cy="35524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5417820" y="3168396"/>
            <a:ext cx="31889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300"/>
              <a:buFont typeface="Calibri"/>
              <a:buNone/>
            </a:pPr>
            <a:r>
              <a:rPr b="1" i="0" lang="ja" sz="1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永続性・経済圏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5417820" y="3531870"/>
            <a:ext cx="318897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ユーザーがログアウトしても空間は存在し続け、アイテム売買などの経済活動が発生する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377190" y="4354830"/>
            <a:ext cx="8401050" cy="514350"/>
          </a:xfrm>
          <a:prstGeom prst="roundRect">
            <a:avLst>
              <a:gd fmla="val 10667" name="adj"/>
            </a:avLst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82930" y="4354830"/>
            <a:ext cx="802386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重要：</a:t>
            </a:r>
            <a:r>
              <a:rPr b="0" i="0" lang="j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この4要素のどこにも「VRデバイスが必須」とは書かれていない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7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8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377190" y="288036"/>
            <a:ext cx="857250" cy="260604"/>
          </a:xfrm>
          <a:prstGeom prst="roundRect">
            <a:avLst>
              <a:gd fmla="val 50000" name="adj"/>
            </a:avLst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377190" y="288036"/>
            <a:ext cx="85725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誤解①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「VR＝メタバース」ではない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377190" y="1062990"/>
            <a:ext cx="836676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1000"/>
              <a:buFont typeface="Calibri"/>
              <a:buNone/>
            </a:pPr>
            <a:r>
              <a:rPr b="0" i="0" lang="ja" sz="10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VRはメタバースに入るための「アクセス手段の1つ」にすぎない。PC・スマホ・タブレット・VR、どの経路でもメタバースには入れる。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18"/>
          <p:cNvCxnSpPr/>
          <p:nvPr/>
        </p:nvCxnSpPr>
        <p:spPr>
          <a:xfrm>
            <a:off x="2811780" y="1903095"/>
            <a:ext cx="3429000" cy="1162431"/>
          </a:xfrm>
          <a:prstGeom prst="straightConnector1">
            <a:avLst/>
          </a:prstGeom>
          <a:noFill/>
          <a:ln cap="flat" cmpd="sng" w="28575">
            <a:solidFill>
              <a:srgbClr val="DAD6E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p18"/>
          <p:cNvSpPr/>
          <p:nvPr/>
        </p:nvSpPr>
        <p:spPr>
          <a:xfrm>
            <a:off x="411480" y="1611630"/>
            <a:ext cx="2400300" cy="582930"/>
          </a:xfrm>
          <a:prstGeom prst="roundRect">
            <a:avLst>
              <a:gd fmla="val 8235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14350" y="1700784"/>
            <a:ext cx="411480" cy="41148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desktop_whit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842" y="1754276"/>
            <a:ext cx="304495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/>
          <p:nvPr/>
        </p:nvSpPr>
        <p:spPr>
          <a:xfrm>
            <a:off x="1028700" y="1611630"/>
            <a:ext cx="168021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200"/>
              <a:buFont typeface="Calibri"/>
              <a:buNone/>
            </a:pPr>
            <a:r>
              <a:rPr b="1" i="0" lang="ja" sz="12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PC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18"/>
          <p:cNvCxnSpPr/>
          <p:nvPr/>
        </p:nvCxnSpPr>
        <p:spPr>
          <a:xfrm>
            <a:off x="2811780" y="2678049"/>
            <a:ext cx="3429000" cy="387477"/>
          </a:xfrm>
          <a:prstGeom prst="straightConnector1">
            <a:avLst/>
          </a:prstGeom>
          <a:noFill/>
          <a:ln cap="flat" cmpd="sng" w="28575">
            <a:solidFill>
              <a:srgbClr val="DAD6E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6" name="Google Shape;156;p18"/>
          <p:cNvSpPr/>
          <p:nvPr/>
        </p:nvSpPr>
        <p:spPr>
          <a:xfrm>
            <a:off x="411480" y="2386584"/>
            <a:ext cx="2400300" cy="582930"/>
          </a:xfrm>
          <a:prstGeom prst="roundRect">
            <a:avLst>
              <a:gd fmla="val 8235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14350" y="2475738"/>
            <a:ext cx="411480" cy="41148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mobile_white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42" y="2529230"/>
            <a:ext cx="304495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/>
          <p:nvPr/>
        </p:nvSpPr>
        <p:spPr>
          <a:xfrm>
            <a:off x="1028700" y="2386584"/>
            <a:ext cx="168021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200"/>
              <a:buFont typeface="Calibri"/>
              <a:buNone/>
            </a:pPr>
            <a:r>
              <a:rPr b="1" i="0" lang="ja" sz="12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スマホ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18"/>
          <p:cNvCxnSpPr/>
          <p:nvPr/>
        </p:nvCxnSpPr>
        <p:spPr>
          <a:xfrm flipH="1" rot="10800000">
            <a:off x="2811780" y="3065526"/>
            <a:ext cx="3429000" cy="387477"/>
          </a:xfrm>
          <a:prstGeom prst="straightConnector1">
            <a:avLst/>
          </a:prstGeom>
          <a:noFill/>
          <a:ln cap="flat" cmpd="sng" w="28575">
            <a:solidFill>
              <a:srgbClr val="DAD6E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18"/>
          <p:cNvSpPr/>
          <p:nvPr/>
        </p:nvSpPr>
        <p:spPr>
          <a:xfrm>
            <a:off x="411480" y="3161538"/>
            <a:ext cx="2400300" cy="582930"/>
          </a:xfrm>
          <a:prstGeom prst="roundRect">
            <a:avLst>
              <a:gd fmla="val 8235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14350" y="3250692"/>
            <a:ext cx="411480" cy="41148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tablet_whit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7842" y="3304184"/>
            <a:ext cx="304495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/>
          <p:nvPr/>
        </p:nvSpPr>
        <p:spPr>
          <a:xfrm>
            <a:off x="1028700" y="3161538"/>
            <a:ext cx="168021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200"/>
              <a:buFont typeface="Calibri"/>
              <a:buNone/>
            </a:pPr>
            <a:r>
              <a:rPr b="1" i="0" lang="ja" sz="12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タブレット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18"/>
          <p:cNvCxnSpPr/>
          <p:nvPr/>
        </p:nvCxnSpPr>
        <p:spPr>
          <a:xfrm flipH="1" rot="10800000">
            <a:off x="2811780" y="3065526"/>
            <a:ext cx="3429000" cy="1162431"/>
          </a:xfrm>
          <a:prstGeom prst="straightConnector1">
            <a:avLst/>
          </a:prstGeom>
          <a:noFill/>
          <a:ln cap="flat" cmpd="sng" w="28575">
            <a:solidFill>
              <a:srgbClr val="DAD6E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" name="Google Shape;166;p18"/>
          <p:cNvSpPr/>
          <p:nvPr/>
        </p:nvSpPr>
        <p:spPr>
          <a:xfrm>
            <a:off x="411480" y="3936492"/>
            <a:ext cx="2400300" cy="582930"/>
          </a:xfrm>
          <a:prstGeom prst="roundRect">
            <a:avLst>
              <a:gd fmla="val 8235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14350" y="4025646"/>
            <a:ext cx="411480" cy="41148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vr_headset_white.png" id="168" name="Google Shape;16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842" y="4079138"/>
            <a:ext cx="304495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/>
          <p:nvPr/>
        </p:nvSpPr>
        <p:spPr>
          <a:xfrm>
            <a:off x="1028700" y="3936492"/>
            <a:ext cx="1680210" cy="5829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200"/>
              <a:buFont typeface="Calibri"/>
              <a:buNone/>
            </a:pPr>
            <a:r>
              <a:rPr b="1" i="0" lang="ja" sz="12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VRヘッドセット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6206490" y="2036826"/>
            <a:ext cx="2057400" cy="205740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6206490" y="2654046"/>
            <a:ext cx="2057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メタバース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ja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空間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/>
          <p:nvPr/>
        </p:nvSpPr>
        <p:spPr>
          <a:xfrm>
            <a:off x="377190" y="4423410"/>
            <a:ext cx="8401050" cy="445770"/>
          </a:xfrm>
          <a:prstGeom prst="roundRect">
            <a:avLst>
              <a:gd fmla="val 12308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582930" y="4423410"/>
            <a:ext cx="802386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900"/>
              <a:buFont typeface="Calibri"/>
              <a:buNone/>
            </a:pPr>
            <a:r>
              <a:rPr b="0" i="1" lang="ja" sz="9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本ハッカソンで参加者がPC上のRoblox Studioで作る空間も、それ自体が立派な「メタバース」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377190" y="288036"/>
            <a:ext cx="857250" cy="260604"/>
          </a:xfrm>
          <a:prstGeom prst="roundRect">
            <a:avLst>
              <a:gd fmla="val 50000" name="adj"/>
            </a:avLst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9"/>
          <p:cNvSpPr/>
          <p:nvPr/>
        </p:nvSpPr>
        <p:spPr>
          <a:xfrm>
            <a:off x="377190" y="288036"/>
            <a:ext cx="85725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誤解②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「メタバース＝ゲーム」ではない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77190" y="1062990"/>
            <a:ext cx="8366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1000"/>
              <a:buFont typeface="Calibri"/>
              <a:buNone/>
            </a:pPr>
            <a:r>
              <a:rPr b="0" i="0" lang="ja" sz="10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ゲームはメタバースの代表的な「ユースケースの1つ」であって、イコールではない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377190" y="1508760"/>
            <a:ext cx="1548536" cy="2777490"/>
          </a:xfrm>
          <a:prstGeom prst="roundRect">
            <a:avLst>
              <a:gd fmla="val 354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877138" y="1700784"/>
            <a:ext cx="548640" cy="54864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gamepad_white.png"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461" y="177210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9"/>
          <p:cNvSpPr/>
          <p:nvPr/>
        </p:nvSpPr>
        <p:spPr>
          <a:xfrm>
            <a:off x="445770" y="2366010"/>
            <a:ext cx="141137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ゲーム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480060" y="2914650"/>
            <a:ext cx="134279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最も学習コストが低く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分かりやすい切り口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2090318" y="1508760"/>
            <a:ext cx="1548536" cy="2777490"/>
          </a:xfrm>
          <a:prstGeom prst="roundRect">
            <a:avLst>
              <a:gd fmla="val 3543" name="adj"/>
            </a:avLst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2590267" y="1700784"/>
            <a:ext cx="548640" cy="54864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microphone_white.png" id="193" name="Google Shape;1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61590" y="177210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/>
          <p:nvPr/>
        </p:nvSpPr>
        <p:spPr>
          <a:xfrm>
            <a:off x="2158898" y="2366010"/>
            <a:ext cx="141137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エンタメ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・イベント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2193188" y="2914650"/>
            <a:ext cx="134279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2F2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D8D2F2"/>
                </a:solidFill>
                <a:latin typeface="Calibri"/>
                <a:ea typeface="Calibri"/>
                <a:cs typeface="Calibri"/>
                <a:sym typeface="Calibri"/>
              </a:rPr>
              <a:t>Fortnite内の音楽ライブ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2F2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D8D2F2"/>
                </a:solidFill>
                <a:latin typeface="Calibri"/>
                <a:ea typeface="Calibri"/>
                <a:cs typeface="Calibri"/>
                <a:sym typeface="Calibri"/>
              </a:rPr>
              <a:t>同時接続1,230万人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8D2F2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D8D2F2"/>
                </a:solidFill>
                <a:latin typeface="Calibri"/>
                <a:ea typeface="Calibri"/>
                <a:cs typeface="Calibri"/>
                <a:sym typeface="Calibri"/>
              </a:rPr>
              <a:t>（Guinness World Records）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803447" y="1508760"/>
            <a:ext cx="1548536" cy="2777490"/>
          </a:xfrm>
          <a:prstGeom prst="roundRect">
            <a:avLst>
              <a:gd fmla="val 354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4303395" y="1700784"/>
            <a:ext cx="548640" cy="54864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book_white.png" id="198" name="Google Shape;19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74719" y="177210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/>
          <p:nvPr/>
        </p:nvSpPr>
        <p:spPr>
          <a:xfrm>
            <a:off x="3872027" y="2366010"/>
            <a:ext cx="141137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教育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3906316" y="2914650"/>
            <a:ext cx="134279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バーチャルキャンパスでの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授業・研修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516576" y="1508760"/>
            <a:ext cx="1548536" cy="2777490"/>
          </a:xfrm>
          <a:prstGeom prst="roundRect">
            <a:avLst>
              <a:gd fmla="val 354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6016523" y="1700784"/>
            <a:ext cx="548640" cy="54864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briefcase_white.png" id="203" name="Google Shape;20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87847" y="177210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/>
          <p:nvPr/>
        </p:nvSpPr>
        <p:spPr>
          <a:xfrm>
            <a:off x="5585156" y="2366010"/>
            <a:ext cx="141137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ビジネス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・リモートワーク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619446" y="2914650"/>
            <a:ext cx="134279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仮想オフィスでの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会議・共同作業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7229704" y="1508760"/>
            <a:ext cx="1548536" cy="2777490"/>
          </a:xfrm>
          <a:prstGeom prst="roundRect">
            <a:avLst>
              <a:gd fmla="val 354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7729652" y="1700784"/>
            <a:ext cx="548640" cy="54864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shopping_bag_white.png" id="208" name="Google Shape;20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00975" y="1772107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/>
          <p:nvPr/>
        </p:nvSpPr>
        <p:spPr>
          <a:xfrm>
            <a:off x="7298284" y="2366010"/>
            <a:ext cx="1411376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EC・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ファッション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7332574" y="2914650"/>
            <a:ext cx="134279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デジタル衣装・アイテム売買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（NIKE、GUCCI等が参入）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0"/>
          <p:cNvSpPr/>
          <p:nvPr/>
        </p:nvSpPr>
        <p:spPr>
          <a:xfrm>
            <a:off x="377190" y="288036"/>
            <a:ext cx="963549" cy="260604"/>
          </a:xfrm>
          <a:prstGeom prst="roundRect">
            <a:avLst>
              <a:gd fmla="val 50000" name="adj"/>
            </a:avLst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0"/>
          <p:cNvSpPr/>
          <p:nvPr/>
        </p:nvSpPr>
        <p:spPr>
          <a:xfrm>
            <a:off x="377190" y="288036"/>
            <a:ext cx="963549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誤解③④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もう空想じゃない／Web3必須でもない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377190" y="1268730"/>
            <a:ext cx="4046220" cy="3394710"/>
          </a:xfrm>
          <a:prstGeom prst="roundRect">
            <a:avLst>
              <a:gd fmla="val 1616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582930" y="1474470"/>
            <a:ext cx="514350" cy="514350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oins_white.pn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795" y="1541336"/>
            <a:ext cx="380619" cy="38061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/>
          <p:nvPr/>
        </p:nvSpPr>
        <p:spPr>
          <a:xfrm>
            <a:off x="1234440" y="1508760"/>
            <a:ext cx="30175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200"/>
              <a:buFont typeface="Calibri"/>
              <a:buNone/>
            </a:pPr>
            <a:r>
              <a:rPr b="1" i="0" lang="ja" sz="12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誤解③：まだSFの空想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617220" y="2125980"/>
            <a:ext cx="3566160" cy="2366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900"/>
              <a:buFont typeface="Calibri"/>
              <a:buChar char="●"/>
            </a:pPr>
            <a:r>
              <a:rPr b="0" i="0" lang="ja" sz="9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Robloxのようなプラットフォームでは、既に実体のある経済圏が機能している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D1140"/>
              </a:buClr>
              <a:buSzPts val="900"/>
              <a:buFont typeface="Calibri"/>
              <a:buChar char="●"/>
            </a:pPr>
            <a:r>
              <a:rPr b="0" i="0" lang="ja" sz="9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独自通貨「Robux」でユーザー制作アイテムの売買が行われている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D1140"/>
              </a:buClr>
              <a:buSzPts val="900"/>
              <a:buFont typeface="Calibri"/>
              <a:buChar char="●"/>
            </a:pPr>
            <a:r>
              <a:rPr b="0" i="0" lang="ja" sz="9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一定基準を満たしたクリエイターは「DevEx」でRobuxを現金に換金できる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D1140"/>
              </a:buClr>
              <a:buSzPts val="900"/>
              <a:buFont typeface="Calibri"/>
              <a:buChar char="●"/>
            </a:pPr>
            <a:r>
              <a:rPr b="0" i="0" lang="ja" sz="9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＝「メタバースで生計を立てる人」が実際に存在する段階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4663440" y="1268730"/>
            <a:ext cx="4046220" cy="3394710"/>
          </a:xfrm>
          <a:prstGeom prst="roundRect">
            <a:avLst>
              <a:gd fmla="val 1616" name="adj"/>
            </a:avLst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4869180" y="1474470"/>
            <a:ext cx="514350" cy="514350"/>
          </a:xfrm>
          <a:prstGeom prst="ellipse">
            <a:avLst/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link_chain_white.png" id="229" name="Google Shape;22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6046" y="1541336"/>
            <a:ext cx="380619" cy="38061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0"/>
          <p:cNvSpPr/>
          <p:nvPr/>
        </p:nvSpPr>
        <p:spPr>
          <a:xfrm>
            <a:off x="5520690" y="1508760"/>
            <a:ext cx="3017520" cy="445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ja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誤解④：Web3・NFT必須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4903470" y="2125980"/>
            <a:ext cx="3566160" cy="23660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47650" lvl="0" marL="254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900"/>
              <a:buFont typeface="Calibri"/>
              <a:buChar char="●"/>
            </a:pPr>
            <a:r>
              <a:rPr b="0" i="0" lang="ja" sz="9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メタバースとWeb3（ブロックチェーン・NFT）は混同されがちだが、技術的には別軸の話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E8E4F8"/>
              </a:buClr>
              <a:buSzPts val="900"/>
              <a:buFont typeface="Calibri"/>
              <a:buChar char="●"/>
            </a:pPr>
            <a:r>
              <a:rPr b="0" i="0" lang="ja" sz="9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Roblox・Fortniteのような主要プラットフォームは、Web3技術に依存せず巨大な経済圏を成立させている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47650" lvl="0" marL="254000" marR="0" rtl="0" algn="l">
              <a:lnSpc>
                <a:spcPct val="125000"/>
              </a:lnSpc>
              <a:spcBef>
                <a:spcPts val="900"/>
              </a:spcBef>
              <a:spcAft>
                <a:spcPts val="0"/>
              </a:spcAft>
              <a:buClr>
                <a:srgbClr val="E8E4F8"/>
              </a:buClr>
              <a:buSzPts val="900"/>
              <a:buFont typeface="Calibri"/>
              <a:buChar char="●"/>
            </a:pPr>
            <a:r>
              <a:rPr b="0" i="0" lang="ja" sz="9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本ハッカソンで使うRobloxも、ブロックチェーンの知識は一切不要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1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377190" y="288036"/>
            <a:ext cx="750951" cy="260604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1"/>
          <p:cNvSpPr/>
          <p:nvPr/>
        </p:nvSpPr>
        <p:spPr>
          <a:xfrm>
            <a:off x="377190" y="288036"/>
            <a:ext cx="7509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比較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代表的なメタバースプラットフォーム比較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3" name="Google Shape;243;p21"/>
          <p:cNvGraphicFramePr/>
          <p:nvPr/>
        </p:nvGraphicFramePr>
        <p:xfrm>
          <a:off x="377190" y="120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{B8D73487-4B9A-4EB3-AE3C-88ED599BB840}</a:tableStyleId>
              </a:tblPr>
              <a:tblGrid>
                <a:gridCol w="1062975"/>
                <a:gridCol w="1200150"/>
                <a:gridCol w="2777475"/>
              </a:tblGrid>
              <a:tr h="37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プラットフォーム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1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アクセス手段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1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特徴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140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Roblox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PC／スマホ／タブレット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（一部VR対応）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UGC中心。開発ツールと経済圏が一体化。VR必須ではない代表例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Fortnite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(Creative)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PC／コンソール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／モバイル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大規模IPを背景にしたUGCモード。ライブイベント等エンタメ色が強い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VRChat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主にVR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（PCでも可）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VR体験・アバターコミュニケーションに特化。VR前提に近い数少ない例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</a:tr>
              <a:tr h="75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Horizon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b="1"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Worlds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VR／モバイル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／Web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800"/>
                        <a:buFont typeface="Calibri"/>
                        <a:buNone/>
                      </a:pPr>
                      <a:r>
                        <a:rPr lang="ja" sz="8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Meta社が展開。VR前提で始まったが、普及は当初想定より苦戦</a:t>
                      </a:r>
                      <a:endParaRPr sz="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21"/>
          <p:cNvSpPr/>
          <p:nvPr/>
        </p:nvSpPr>
        <p:spPr>
          <a:xfrm>
            <a:off x="5726430" y="980694"/>
            <a:ext cx="298323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VR依存度 × 規模感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5726430" y="1268730"/>
            <a:ext cx="2983230" cy="2983230"/>
          </a:xfrm>
          <a:prstGeom prst="rect">
            <a:avLst/>
          </a:prstGeom>
          <a:solidFill>
            <a:srgbClr val="F5F3FC"/>
          </a:solidFill>
          <a:ln cap="flat" cmpd="sng" w="12700">
            <a:solidFill>
              <a:srgbClr val="DAD6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6" name="Google Shape;246;p21"/>
          <p:cNvCxnSpPr/>
          <p:nvPr/>
        </p:nvCxnSpPr>
        <p:spPr>
          <a:xfrm>
            <a:off x="5726430" y="2760345"/>
            <a:ext cx="2983230" cy="0"/>
          </a:xfrm>
          <a:prstGeom prst="straightConnector1">
            <a:avLst/>
          </a:prstGeom>
          <a:noFill/>
          <a:ln cap="flat" cmpd="sng" w="12700">
            <a:solidFill>
              <a:srgbClr val="DAD6EC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247" name="Google Shape;247;p21"/>
          <p:cNvCxnSpPr/>
          <p:nvPr/>
        </p:nvCxnSpPr>
        <p:spPr>
          <a:xfrm>
            <a:off x="7218045" y="1268730"/>
            <a:ext cx="0" cy="2983230"/>
          </a:xfrm>
          <a:prstGeom prst="straightConnector1">
            <a:avLst/>
          </a:prstGeom>
          <a:noFill/>
          <a:ln cap="flat" cmpd="sng" w="12700">
            <a:solidFill>
              <a:srgbClr val="DAD6E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8" name="Google Shape;248;p21"/>
          <p:cNvSpPr/>
          <p:nvPr/>
        </p:nvSpPr>
        <p:spPr>
          <a:xfrm>
            <a:off x="6112192" y="1505331"/>
            <a:ext cx="123444" cy="123444"/>
          </a:xfrm>
          <a:prstGeom prst="ellipse">
            <a:avLst/>
          </a:prstGeom>
          <a:solidFill>
            <a:srgbClr val="FF3D8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6228779" y="1532763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700"/>
              <a:buFont typeface="Calibri"/>
              <a:buNone/>
            </a:pPr>
            <a:r>
              <a:rPr b="1" i="0" lang="ja" sz="7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Roblox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6305654" y="1807068"/>
            <a:ext cx="123300" cy="123300"/>
          </a:xfrm>
          <a:prstGeom prst="ellipse">
            <a:avLst/>
          </a:prstGeom>
          <a:solidFill>
            <a:srgbClr val="FF3D8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"/>
          <p:cNvSpPr/>
          <p:nvPr/>
        </p:nvSpPr>
        <p:spPr>
          <a:xfrm>
            <a:off x="6377940" y="1839659"/>
            <a:ext cx="75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700"/>
              <a:buFont typeface="Calibri"/>
              <a:buNone/>
            </a:pPr>
            <a:r>
              <a:rPr b="1" i="0" lang="ja" sz="7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Fortnite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7305485" y="3444431"/>
            <a:ext cx="123444" cy="123444"/>
          </a:xfrm>
          <a:prstGeom prst="ellipse">
            <a:avLst/>
          </a:prstGeom>
          <a:solidFill>
            <a:srgbClr val="FF3D8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7422070" y="3471863"/>
            <a:ext cx="7543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700"/>
              <a:buFont typeface="Calibri"/>
              <a:buNone/>
            </a:pPr>
            <a:r>
              <a:rPr b="1" i="0" lang="ja" sz="7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Horizon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700"/>
              <a:buFont typeface="Calibri"/>
              <a:buNone/>
            </a:pPr>
            <a:r>
              <a:rPr b="1" i="0" lang="ja" sz="7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Worlds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8200454" y="3146107"/>
            <a:ext cx="123444" cy="123444"/>
          </a:xfrm>
          <a:prstGeom prst="ellipse">
            <a:avLst/>
          </a:prstGeom>
          <a:solidFill>
            <a:srgbClr val="FF3D81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"/>
          <p:cNvSpPr/>
          <p:nvPr/>
        </p:nvSpPr>
        <p:spPr>
          <a:xfrm>
            <a:off x="7941575" y="3173550"/>
            <a:ext cx="35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700"/>
              <a:buFont typeface="Calibri"/>
              <a:buNone/>
            </a:pPr>
            <a:r>
              <a:rPr b="1" i="0" lang="ja" sz="7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VRChat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5726430" y="4293108"/>
            <a:ext cx="29832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低いVR依存度 → 高い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 rot="-5400000">
            <a:off x="5520690" y="2664333"/>
            <a:ext cx="298323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小さい規模 → 大きい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"/>
          <p:cNvSpPr/>
          <p:nvPr/>
        </p:nvSpPr>
        <p:spPr>
          <a:xfrm>
            <a:off x="377190" y="288036"/>
            <a:ext cx="750900" cy="260700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377190" y="288036"/>
            <a:ext cx="7509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詳細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342900" y="576072"/>
            <a:ext cx="84354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今回使用する『Roblox』とは？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342900" y="4910328"/>
            <a:ext cx="54864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8572500" y="4910328"/>
            <a:ext cx="2742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oblox（ロブロックス）とは？安全な遊び方からおすすめのゲームまで紹介" id="270" name="Google Shape;27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350" y="1357899"/>
            <a:ext cx="6678074" cy="350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3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377190" y="288036"/>
            <a:ext cx="750951" cy="260604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377190" y="288036"/>
            <a:ext cx="7509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詳細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今回使用する『Roblox』とは？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23"/>
          <p:cNvCxnSpPr/>
          <p:nvPr/>
        </p:nvCxnSpPr>
        <p:spPr>
          <a:xfrm flipH="1" rot="10800000">
            <a:off x="4560570" y="1680210"/>
            <a:ext cx="6858" cy="1440180"/>
          </a:xfrm>
          <a:prstGeom prst="straightConnector1">
            <a:avLst/>
          </a:prstGeom>
          <a:noFill/>
          <a:ln cap="flat" cmpd="sng" w="22225">
            <a:solidFill>
              <a:srgbClr val="DAD6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23"/>
          <p:cNvCxnSpPr/>
          <p:nvPr/>
        </p:nvCxnSpPr>
        <p:spPr>
          <a:xfrm flipH="1" rot="10800000">
            <a:off x="4560570" y="2675350"/>
            <a:ext cx="2543715" cy="445040"/>
          </a:xfrm>
          <a:prstGeom prst="straightConnector1">
            <a:avLst/>
          </a:prstGeom>
          <a:noFill/>
          <a:ln cap="flat" cmpd="sng" w="22225">
            <a:solidFill>
              <a:srgbClr val="DAD6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23"/>
          <p:cNvCxnSpPr/>
          <p:nvPr/>
        </p:nvCxnSpPr>
        <p:spPr>
          <a:xfrm>
            <a:off x="4560570" y="3120390"/>
            <a:ext cx="1572102" cy="1165130"/>
          </a:xfrm>
          <a:prstGeom prst="straightConnector1">
            <a:avLst/>
          </a:prstGeom>
          <a:noFill/>
          <a:ln cap="flat" cmpd="sng" w="22225">
            <a:solidFill>
              <a:srgbClr val="DAD6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23"/>
          <p:cNvCxnSpPr/>
          <p:nvPr/>
        </p:nvCxnSpPr>
        <p:spPr>
          <a:xfrm flipH="1">
            <a:off x="2988468" y="3120390"/>
            <a:ext cx="1572102" cy="1165130"/>
          </a:xfrm>
          <a:prstGeom prst="straightConnector1">
            <a:avLst/>
          </a:prstGeom>
          <a:noFill/>
          <a:ln cap="flat" cmpd="sng" w="22225">
            <a:solidFill>
              <a:srgbClr val="DAD6E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23"/>
          <p:cNvCxnSpPr/>
          <p:nvPr/>
        </p:nvCxnSpPr>
        <p:spPr>
          <a:xfrm rot="10800000">
            <a:off x="2016855" y="2675350"/>
            <a:ext cx="2543715" cy="445040"/>
          </a:xfrm>
          <a:prstGeom prst="straightConnector1">
            <a:avLst/>
          </a:prstGeom>
          <a:noFill/>
          <a:ln cap="flat" cmpd="sng" w="22225">
            <a:solidFill>
              <a:srgbClr val="DAD6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p23"/>
          <p:cNvSpPr/>
          <p:nvPr/>
        </p:nvSpPr>
        <p:spPr>
          <a:xfrm>
            <a:off x="3909060" y="2726055"/>
            <a:ext cx="1303020" cy="788670"/>
          </a:xfrm>
          <a:prstGeom prst="roundRect">
            <a:avLst>
              <a:gd fmla="val 8696" name="adj"/>
            </a:avLst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3909060" y="2726055"/>
            <a:ext cx="1303020" cy="788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j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Roblox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3531870" y="1165860"/>
            <a:ext cx="2057400" cy="1028700"/>
          </a:xfrm>
          <a:prstGeom prst="roundRect">
            <a:avLst>
              <a:gd fmla="val 533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"/>
          <p:cNvSpPr/>
          <p:nvPr/>
        </p:nvSpPr>
        <p:spPr>
          <a:xfrm>
            <a:off x="3655314" y="1289304"/>
            <a:ext cx="411480" cy="41148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building_white.png" id="289" name="Google Shape;28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8806" y="1342796"/>
            <a:ext cx="304496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/>
          <p:nvPr/>
        </p:nvSpPr>
        <p:spPr>
          <a:xfrm>
            <a:off x="4149090" y="1261872"/>
            <a:ext cx="13373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運営元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3682746" y="1632204"/>
            <a:ext cx="1755648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米国 Roblox Corporation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2006年サービス開始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6075585" y="2161000"/>
            <a:ext cx="2057400" cy="1028700"/>
          </a:xfrm>
          <a:prstGeom prst="roundRect">
            <a:avLst>
              <a:gd fmla="val 533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6199029" y="2284444"/>
            <a:ext cx="411480" cy="41148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hart_line_white.png" id="294" name="Google Shape;2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2521" y="2337936"/>
            <a:ext cx="304496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/>
          <p:nvPr/>
        </p:nvSpPr>
        <p:spPr>
          <a:xfrm>
            <a:off x="6692805" y="2257012"/>
            <a:ext cx="13373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規模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3"/>
          <p:cNvSpPr/>
          <p:nvPr/>
        </p:nvSpPr>
        <p:spPr>
          <a:xfrm>
            <a:off x="6226461" y="2627344"/>
            <a:ext cx="1755648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DAU 1億3,200万人規模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（2026年6月時点）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/>
          <p:nvPr/>
        </p:nvSpPr>
        <p:spPr>
          <a:xfrm>
            <a:off x="5103972" y="3771170"/>
            <a:ext cx="2057400" cy="1028700"/>
          </a:xfrm>
          <a:prstGeom prst="roundRect">
            <a:avLst>
              <a:gd fmla="val 533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5227416" y="3894614"/>
            <a:ext cx="411480" cy="41148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oins_white.png" id="299" name="Google Shape;29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0908" y="3948107"/>
            <a:ext cx="304496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/>
          <p:nvPr/>
        </p:nvSpPr>
        <p:spPr>
          <a:xfrm>
            <a:off x="5721192" y="3867182"/>
            <a:ext cx="13373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経済圏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5254848" y="4237514"/>
            <a:ext cx="1755648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独自通貨Robux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DevExで現金化可能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/>
          <p:nvPr/>
        </p:nvSpPr>
        <p:spPr>
          <a:xfrm>
            <a:off x="1959768" y="3771170"/>
            <a:ext cx="2057400" cy="1028700"/>
          </a:xfrm>
          <a:prstGeom prst="roundRect">
            <a:avLst>
              <a:gd fmla="val 533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2083212" y="3894614"/>
            <a:ext cx="411480" cy="41148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tools_white.png" id="304" name="Google Shape;30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6704" y="3948107"/>
            <a:ext cx="304495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3"/>
          <p:cNvSpPr/>
          <p:nvPr/>
        </p:nvSpPr>
        <p:spPr>
          <a:xfrm>
            <a:off x="2576988" y="3867182"/>
            <a:ext cx="13373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開発ツール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3"/>
          <p:cNvSpPr/>
          <p:nvPr/>
        </p:nvSpPr>
        <p:spPr>
          <a:xfrm>
            <a:off x="2110644" y="4237514"/>
            <a:ext cx="1755648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Roblox Studio（無料）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Luau（Lua系言語）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988155" y="2161000"/>
            <a:ext cx="2057400" cy="1028700"/>
          </a:xfrm>
          <a:prstGeom prst="roundRect">
            <a:avLst>
              <a:gd fmla="val 533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1111599" y="2284444"/>
            <a:ext cx="411480" cy="41148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desktop_white.png" id="309" name="Google Shape;30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5091" y="2337936"/>
            <a:ext cx="304496" cy="30449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/>
          <p:nvPr/>
        </p:nvSpPr>
        <p:spPr>
          <a:xfrm>
            <a:off x="1605375" y="2257012"/>
            <a:ext cx="13373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対応デバイス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1139031" y="2627344"/>
            <a:ext cx="1755648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PC・スマホ・タブレット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一部VRにも対応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3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3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4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377190" y="288036"/>
            <a:ext cx="963549" cy="260604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377190" y="288036"/>
            <a:ext cx="963549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 キャリア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業界・キャリアとのつながり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377190" y="1062990"/>
            <a:ext cx="8366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1000"/>
              <a:buFont typeface="Calibri"/>
              <a:buNone/>
            </a:pPr>
            <a:r>
              <a:rPr b="0" i="0" lang="ja" sz="10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メタバース関連の仕事は「VRの専門家」だけを指すのではなく、既存のIT・ゲーム職種の延長線上にある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4" name="Google Shape;324;p24"/>
          <p:cNvGraphicFramePr/>
          <p:nvPr/>
        </p:nvGraphicFramePr>
        <p:xfrm>
          <a:off x="377190" y="14744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{B8D73487-4B9A-4EB3-AE3C-88ED599BB840}</a:tableStyleId>
              </a:tblPr>
              <a:tblGrid>
                <a:gridCol w="2125975"/>
                <a:gridCol w="3771900"/>
              </a:tblGrid>
              <a:tr h="37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ja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職種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1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ja" sz="9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メタバース領域での役割の例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D1140"/>
                    </a:solidFill>
                  </a:tcPr>
                </a:tc>
              </a:tr>
              <a:tr h="61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ja" sz="9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ゲームプログラマー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ゲームロジック、マルチプレイ通信（RemoteEvent等）の実装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</a:tr>
              <a:tr h="61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ja" sz="9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3D／UIデザイナー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空間・アバター・UIのビジュアル制作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</a:tr>
              <a:tr h="61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ja" sz="9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プランナー・ディレクター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企画立案、ゲームバランス設計、企画書作成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</a:tr>
              <a:tr h="61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900"/>
                        <a:buFont typeface="Calibri"/>
                        <a:buNone/>
                      </a:pPr>
                      <a:r>
                        <a:rPr b="1" lang="ja" sz="9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プラットフォームエンジニア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1140"/>
                        </a:buClr>
                        <a:buSzPts val="900"/>
                        <a:buFont typeface="Calibri"/>
                        <a:buNone/>
                      </a:pPr>
                      <a:r>
                        <a:rPr lang="ja" sz="900" u="none" cap="none" strike="noStrike">
                          <a:solidFill>
                            <a:srgbClr val="1D114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サーバー・パフォーマンス最適化、負荷対策</a:t>
                      </a:r>
                      <a:endParaRPr sz="9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68600" marL="68600" anchor="ctr">
                    <a:lnL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AD6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3FC"/>
                    </a:solidFill>
                  </a:tcPr>
                </a:tc>
              </a:tr>
            </a:tbl>
          </a:graphicData>
        </a:graphic>
      </p:graphicFrame>
      <p:sp>
        <p:nvSpPr>
          <p:cNvPr id="325" name="Google Shape;325;p24"/>
          <p:cNvSpPr/>
          <p:nvPr/>
        </p:nvSpPr>
        <p:spPr>
          <a:xfrm>
            <a:off x="6480810" y="1474470"/>
            <a:ext cx="2297430" cy="2811780"/>
          </a:xfrm>
          <a:prstGeom prst="roundRect">
            <a:avLst>
              <a:gd fmla="val 2388" name="adj"/>
            </a:avLst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7355205" y="1714500"/>
            <a:ext cx="548640" cy="54864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lipboard_white.png" id="327" name="Google Shape;3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26529" y="1785824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4"/>
          <p:cNvSpPr/>
          <p:nvPr/>
        </p:nvSpPr>
        <p:spPr>
          <a:xfrm>
            <a:off x="6617970" y="2400300"/>
            <a:ext cx="202311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就活での武器に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6686550" y="2743200"/>
            <a:ext cx="18859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D8D2F2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D8D2F2"/>
                </a:solidFill>
                <a:latin typeface="Calibri"/>
                <a:ea typeface="Calibri"/>
                <a:cs typeface="Calibri"/>
                <a:sym typeface="Calibri"/>
              </a:rPr>
              <a:t>「遊ぶ側」から「作る側」に回る体験そのものが、ポートフォリオ・自己PRの材料になる。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6686550" y="3497580"/>
            <a:ext cx="1885950" cy="685800"/>
          </a:xfrm>
          <a:prstGeom prst="roundRect">
            <a:avLst>
              <a:gd fmla="val 6000" name="adj"/>
            </a:avLst>
          </a:prstGeom>
          <a:solidFill>
            <a:srgbClr val="2E236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6789420" y="3531870"/>
            <a:ext cx="16802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800"/>
              <a:buFont typeface="Calibri"/>
              <a:buNone/>
            </a:pPr>
            <a:r>
              <a:rPr b="0" i="1" lang="ja" sz="8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「チームでメタバース空間を1から企画・実装した経験」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5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5"/>
          <p:cNvSpPr/>
          <p:nvPr/>
        </p:nvSpPr>
        <p:spPr>
          <a:xfrm>
            <a:off x="-960120" y="-960120"/>
            <a:ext cx="2880360" cy="2880360"/>
          </a:xfrm>
          <a:prstGeom prst="ellipse">
            <a:avLst/>
          </a:prstGeom>
          <a:solidFill>
            <a:srgbClr val="00C2E0">
              <a:alpha val="1411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5"/>
          <p:cNvSpPr/>
          <p:nvPr/>
        </p:nvSpPr>
        <p:spPr>
          <a:xfrm>
            <a:off x="7818120" y="3566160"/>
            <a:ext cx="2468880" cy="2468880"/>
          </a:xfrm>
          <a:prstGeom prst="ellipse">
            <a:avLst/>
          </a:prstGeom>
          <a:solidFill>
            <a:srgbClr val="FF3D81">
              <a:alpha val="12941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377190" y="288036"/>
            <a:ext cx="857250" cy="260604"/>
          </a:xfrm>
          <a:prstGeom prst="roundRect">
            <a:avLst>
              <a:gd fmla="val 50000" name="adj"/>
            </a:avLst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5"/>
          <p:cNvSpPr/>
          <p:nvPr/>
        </p:nvSpPr>
        <p:spPr>
          <a:xfrm>
            <a:off x="377190" y="288036"/>
            <a:ext cx="857250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まとめ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5"/>
          <p:cNvSpPr/>
          <p:nvPr/>
        </p:nvSpPr>
        <p:spPr>
          <a:xfrm>
            <a:off x="342900" y="576072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現状の課題・批判的視点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5"/>
          <p:cNvSpPr/>
          <p:nvPr/>
        </p:nvSpPr>
        <p:spPr>
          <a:xfrm>
            <a:off x="377190" y="106299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0E0"/>
              </a:buClr>
              <a:buSzPts val="1000"/>
              <a:buFont typeface="Calibri"/>
              <a:buNone/>
            </a:pPr>
            <a:r>
              <a:rPr b="0" i="0" lang="ja" sz="1000" u="none" cap="none" strike="noStrike">
                <a:solidFill>
                  <a:srgbClr val="B8B0E0"/>
                </a:solidFill>
                <a:latin typeface="Calibri"/>
                <a:ea typeface="Calibri"/>
                <a:cs typeface="Calibri"/>
                <a:sym typeface="Calibri"/>
              </a:rPr>
              <a:t>ハイプ（誇大な期待）だけを伝えるとミスリードになるため、あえて課題も見ておく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5"/>
          <p:cNvSpPr/>
          <p:nvPr/>
        </p:nvSpPr>
        <p:spPr>
          <a:xfrm>
            <a:off x="411480" y="1543050"/>
            <a:ext cx="5417820" cy="21259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60350" lvl="0" marL="2540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j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Meta社のHorizon Worldsは、巨額投資に見合うユーザー数を獲得できておらず苦戦が報じられている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j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「メタバース」という言葉自体が2021〜2022年にバズワード化した反動で、2023年以降は投資・報道の熱量がやや落ち着いている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0350" lvl="0" marL="254000" marR="0" rtl="0" algn="l">
              <a:lnSpc>
                <a:spcPct val="13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●"/>
            </a:pPr>
            <a:r>
              <a:rPr b="0" i="0" lang="j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一方でRoblox・Fortniteのような「ゲームプラットフォーム型メタバース」は、言葉のブームに関係なく実利用者数・売上を伸ばし続けている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5"/>
          <p:cNvSpPr/>
          <p:nvPr/>
        </p:nvSpPr>
        <p:spPr>
          <a:xfrm>
            <a:off x="6137910" y="1611630"/>
            <a:ext cx="617220" cy="617220"/>
          </a:xfrm>
          <a:prstGeom prst="ellipse">
            <a:avLst/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balance_scale_white.png" id="348" name="Google Shape;34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8149" y="1691869"/>
            <a:ext cx="456742" cy="456742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5"/>
          <p:cNvSpPr/>
          <p:nvPr/>
        </p:nvSpPr>
        <p:spPr>
          <a:xfrm>
            <a:off x="5966460" y="2366010"/>
            <a:ext cx="2674620" cy="1303020"/>
          </a:xfrm>
          <a:prstGeom prst="roundRect">
            <a:avLst>
              <a:gd fmla="val 4211" name="adj"/>
            </a:avLst>
          </a:prstGeom>
          <a:solidFill>
            <a:srgbClr val="2E2360"/>
          </a:solidFill>
          <a:ln cap="flat" cmpd="sng" w="12700">
            <a:solidFill>
              <a:srgbClr val="4A44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6137910" y="2468880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見極めの視点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6137910" y="2743200"/>
            <a:ext cx="233172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4F8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E8E4F8"/>
                </a:solidFill>
                <a:latin typeface="Calibri"/>
                <a:ea typeface="Calibri"/>
                <a:cs typeface="Calibri"/>
                <a:sym typeface="Calibri"/>
              </a:rPr>
              <a:t>「メタバース」という単語のトレンドではなく、UGC・同時多人数・経済圏が実際に機能しているかで見極める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377190" y="3943350"/>
            <a:ext cx="8401050" cy="720090"/>
          </a:xfrm>
          <a:prstGeom prst="roundRect">
            <a:avLst>
              <a:gd fmla="val 7619" name="adj"/>
            </a:avLst>
          </a:prstGeom>
          <a:solidFill>
            <a:srgbClr val="FFFFFF">
              <a:alpha val="7843"/>
            </a:srgbClr>
          </a:solidFill>
          <a:ln cap="flat" cmpd="sng" w="12700">
            <a:solidFill>
              <a:srgbClr val="4A44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582930" y="3943350"/>
            <a:ext cx="79552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3D81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FF3D81"/>
                </a:solidFill>
                <a:latin typeface="Calibri"/>
                <a:ea typeface="Calibri"/>
                <a:cs typeface="Calibri"/>
                <a:sym typeface="Calibri"/>
              </a:rPr>
              <a:t>教訓　</a:t>
            </a:r>
            <a:r>
              <a:rPr b="0" i="0" lang="ja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トレンドに一喜一憂せず、「中身が機能しているか」で業界を見る視点を持とう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D6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A79FD6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9FD6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A79FD6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6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6"/>
          <p:cNvSpPr/>
          <p:nvPr/>
        </p:nvSpPr>
        <p:spPr>
          <a:xfrm>
            <a:off x="-891540" y="-1097280"/>
            <a:ext cx="3017520" cy="3017520"/>
          </a:xfrm>
          <a:prstGeom prst="ellipse">
            <a:avLst/>
          </a:prstGeom>
          <a:solidFill>
            <a:srgbClr val="00C2E0">
              <a:alpha val="14902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6"/>
          <p:cNvSpPr/>
          <p:nvPr/>
        </p:nvSpPr>
        <p:spPr>
          <a:xfrm>
            <a:off x="8092440" y="3840480"/>
            <a:ext cx="2606040" cy="2606040"/>
          </a:xfrm>
          <a:prstGeom prst="ellipse">
            <a:avLst/>
          </a:prstGeom>
          <a:solidFill>
            <a:srgbClr val="FF3D81">
              <a:alpha val="14118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"/>
          <p:cNvSpPr/>
          <p:nvPr/>
        </p:nvSpPr>
        <p:spPr>
          <a:xfrm>
            <a:off x="4663440" y="-1234440"/>
            <a:ext cx="1371600" cy="1371600"/>
          </a:xfrm>
          <a:prstGeom prst="ellipse">
            <a:avLst/>
          </a:prstGeom>
          <a:solidFill>
            <a:srgbClr val="00C2E0">
              <a:alpha val="10196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377190" y="342900"/>
            <a:ext cx="750951" cy="260604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377190" y="342900"/>
            <a:ext cx="7509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まずは体験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11480" y="788670"/>
            <a:ext cx="8298180" cy="720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ja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とりあえず、</a:t>
            </a:r>
            <a:r>
              <a:rPr b="1" i="0" lang="ja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</a:t>
            </a:r>
            <a:r>
              <a:rPr b="1" lang="ja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bloxの世界へ</a:t>
            </a:r>
            <a:r>
              <a:rPr b="1" i="0" lang="ja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入ってみよう！</a:t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411480" y="1474470"/>
            <a:ext cx="79552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2EC"/>
              </a:buClr>
              <a:buSzPts val="1100"/>
              <a:buFont typeface="Calibri"/>
              <a:buNone/>
            </a:pPr>
            <a:r>
              <a:rPr b="0" i="0" lang="ja" sz="1100" u="none" cap="none" strike="noStrike">
                <a:solidFill>
                  <a:srgbClr val="C9C2EC"/>
                </a:solidFill>
                <a:latin typeface="Calibri"/>
                <a:ea typeface="Calibri"/>
                <a:cs typeface="Calibri"/>
                <a:sym typeface="Calibri"/>
              </a:rPr>
              <a:t>細かい説明より先に、自分の足でワールドに入って"体感"する方が早い。まずは気軽にアクセスしてみよう。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411480" y="2023110"/>
            <a:ext cx="5006340" cy="2640330"/>
          </a:xfrm>
          <a:prstGeom prst="roundRect">
            <a:avLst>
              <a:gd fmla="val 2597" name="adj"/>
            </a:avLst>
          </a:prstGeom>
          <a:solidFill>
            <a:srgbClr val="2E2360"/>
          </a:solidFill>
          <a:ln cap="flat" cmpd="sng" w="12700">
            <a:solidFill>
              <a:srgbClr val="4A44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51510" y="2263140"/>
            <a:ext cx="963549" cy="260604"/>
          </a:xfrm>
          <a:prstGeom prst="roundRect">
            <a:avLst>
              <a:gd fmla="val 50000" name="adj"/>
            </a:avLst>
          </a:prstGeom>
          <a:solidFill>
            <a:srgbClr val="FF3D8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651510" y="2263140"/>
            <a:ext cx="963549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今回のワールド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651510" y="2674620"/>
            <a:ext cx="452628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ja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IICA2026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ja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夏季メタバース集中講義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ja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ハッカソンワールド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651510" y="3771900"/>
            <a:ext cx="377190" cy="377190"/>
          </a:xfrm>
          <a:prstGeom prst="ellipse">
            <a:avLst/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avatar_white.png" id="374" name="Google Shape;37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545" y="3820935"/>
            <a:ext cx="279121" cy="27912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6"/>
          <p:cNvSpPr/>
          <p:nvPr/>
        </p:nvSpPr>
        <p:spPr>
          <a:xfrm>
            <a:off x="1131570" y="3771900"/>
            <a:ext cx="4046220" cy="3771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D2F2"/>
              </a:buClr>
              <a:buSzPts val="1000"/>
              <a:buFont typeface="Calibri"/>
              <a:buNone/>
            </a:pPr>
            <a:r>
              <a:rPr b="0" i="0" lang="ja" sz="1000" u="none" cap="none" strike="noStrike">
                <a:solidFill>
                  <a:srgbClr val="D8D2F2"/>
                </a:solidFill>
                <a:latin typeface="Calibri"/>
                <a:ea typeface="Calibri"/>
                <a:cs typeface="Calibri"/>
                <a:sym typeface="Calibri"/>
              </a:rPr>
              <a:t>作：@ksgi_Roblox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651510" y="4183380"/>
            <a:ext cx="4526280" cy="342900"/>
          </a:xfrm>
          <a:prstGeom prst="roundRect">
            <a:avLst>
              <a:gd fmla="val 14000" name="adj"/>
            </a:avLst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6"/>
          <p:cNvSpPr/>
          <p:nvPr/>
        </p:nvSpPr>
        <p:spPr>
          <a:xfrm>
            <a:off x="754380" y="4183380"/>
            <a:ext cx="43205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E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00C2E0"/>
                </a:solidFill>
                <a:latin typeface="Calibri"/>
                <a:ea typeface="Calibri"/>
                <a:cs typeface="Calibri"/>
                <a:sym typeface="Calibri"/>
              </a:rPr>
              <a:t>roblox.com/ja/games/102460397644749/IICA2026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5657850" y="2023110"/>
            <a:ext cx="2846070" cy="2640330"/>
          </a:xfrm>
          <a:prstGeom prst="roundRect">
            <a:avLst>
              <a:gd fmla="val 25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qr_code.png" id="379" name="Google Shape;37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06490" y="2263140"/>
            <a:ext cx="1748790" cy="174879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6"/>
          <p:cNvSpPr/>
          <p:nvPr/>
        </p:nvSpPr>
        <p:spPr>
          <a:xfrm>
            <a:off x="5657850" y="4114800"/>
            <a:ext cx="284607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000"/>
              <a:buFont typeface="Calibri"/>
              <a:buNone/>
            </a:pPr>
            <a:r>
              <a:rPr b="1" i="0" lang="ja" sz="10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QRを読み取ってアクセス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5657850" y="4389120"/>
            <a:ext cx="2846070" cy="2400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800"/>
              <a:buFont typeface="Calibri"/>
              <a:buNone/>
            </a:pPr>
            <a:r>
              <a:rPr b="0" i="0" lang="ja" sz="8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PC／スマホ／タブレット対応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79FD6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A79FD6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79FD6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A79FD6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7"/>
          <p:cNvSpPr/>
          <p:nvPr/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7"/>
          <p:cNvSpPr/>
          <p:nvPr/>
        </p:nvSpPr>
        <p:spPr>
          <a:xfrm>
            <a:off x="377190" y="288036"/>
            <a:ext cx="750951" cy="260604"/>
          </a:xfrm>
          <a:prstGeom prst="roundRect">
            <a:avLst>
              <a:gd fmla="val 50000" name="adj"/>
            </a:avLst>
          </a:prstGeom>
          <a:solidFill>
            <a:srgbClr val="00C2E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7"/>
          <p:cNvSpPr/>
          <p:nvPr/>
        </p:nvSpPr>
        <p:spPr>
          <a:xfrm>
            <a:off x="377190" y="288036"/>
            <a:ext cx="750951" cy="26060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ja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理由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342900" y="576072"/>
            <a:ext cx="84353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2300"/>
              <a:buFont typeface="Calibri"/>
              <a:buNone/>
            </a:pPr>
            <a:r>
              <a:rPr b="1" i="0" lang="ja" sz="23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なぜこのハッカソンではRobloxを使うのか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7"/>
          <p:cNvSpPr/>
          <p:nvPr/>
        </p:nvSpPr>
        <p:spPr>
          <a:xfrm>
            <a:off x="377190" y="1268730"/>
            <a:ext cx="8401050" cy="672084"/>
          </a:xfrm>
          <a:prstGeom prst="roundRect">
            <a:avLst>
              <a:gd fmla="val 714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7"/>
          <p:cNvSpPr/>
          <p:nvPr/>
        </p:nvSpPr>
        <p:spPr>
          <a:xfrm>
            <a:off x="514350" y="1385316"/>
            <a:ext cx="438912" cy="438912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heck_circle_white.png" id="395" name="Google Shape;39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09" y="1442375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27"/>
          <p:cNvSpPr/>
          <p:nvPr/>
        </p:nvSpPr>
        <p:spPr>
          <a:xfrm>
            <a:off x="1131570" y="1323594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UGCエコシステムが最も成熟している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1131570" y="1611630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「遊ぶ」だけでなく「作る」「稼ぐ」までが1つのプラットフォームで完結する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377190" y="1995678"/>
            <a:ext cx="8401050" cy="67208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"/>
          <p:cNvSpPr/>
          <p:nvPr/>
        </p:nvSpPr>
        <p:spPr>
          <a:xfrm>
            <a:off x="514350" y="2112264"/>
            <a:ext cx="438912" cy="438912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heck_circle_white.png" id="400" name="Google Shape;4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09" y="2169323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27"/>
          <p:cNvSpPr/>
          <p:nvPr/>
        </p:nvSpPr>
        <p:spPr>
          <a:xfrm>
            <a:off x="1131570" y="2050542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開発のハードルが低い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1131570" y="2338578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Studioという専用エディタとLua（Luau）で、専門知識がなくても数日でゲームを形にできる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377190" y="2722626"/>
            <a:ext cx="8401050" cy="672084"/>
          </a:xfrm>
          <a:prstGeom prst="roundRect">
            <a:avLst>
              <a:gd fmla="val 714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7"/>
          <p:cNvSpPr/>
          <p:nvPr/>
        </p:nvSpPr>
        <p:spPr>
          <a:xfrm>
            <a:off x="514350" y="2839212"/>
            <a:ext cx="438912" cy="438912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heck_circle_white.png" id="405" name="Google Shape;4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09" y="2896271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7"/>
          <p:cNvSpPr/>
          <p:nvPr/>
        </p:nvSpPr>
        <p:spPr>
          <a:xfrm>
            <a:off x="1131570" y="2777490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Team Create機能で同時編集できる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1131570" y="3065526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複数人が同じ空間を同時編集＝実際のチーム開発プロセスをそのまま体験できる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377190" y="3449574"/>
            <a:ext cx="8401050" cy="672084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514350" y="3566160"/>
            <a:ext cx="438912" cy="438912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heck_circle_white.png" id="410" name="Google Shape;4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09" y="3623218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7"/>
          <p:cNvSpPr/>
          <p:nvPr/>
        </p:nvSpPr>
        <p:spPr>
          <a:xfrm>
            <a:off x="1131570" y="3504438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DAUが1億3,200万人規模と非常に大きい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1131570" y="3792474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実際に人が集まる場所で、自分たちの制作物が公開・評価される経験ができる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377190" y="4176522"/>
            <a:ext cx="8401050" cy="672084"/>
          </a:xfrm>
          <a:prstGeom prst="roundRect">
            <a:avLst>
              <a:gd fmla="val 7143" name="adj"/>
            </a:avLst>
          </a:prstGeom>
          <a:solidFill>
            <a:srgbClr val="F5F3F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7"/>
          <p:cNvSpPr/>
          <p:nvPr/>
        </p:nvSpPr>
        <p:spPr>
          <a:xfrm>
            <a:off x="514350" y="4293108"/>
            <a:ext cx="438912" cy="438912"/>
          </a:xfrm>
          <a:prstGeom prst="ellipse">
            <a:avLst/>
          </a:prstGeom>
          <a:solidFill>
            <a:srgbClr val="1D114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metaverse_deck/icons/check_circle_white.png" id="415" name="Google Shape;41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09" y="4350167"/>
            <a:ext cx="324795" cy="324795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7"/>
          <p:cNvSpPr/>
          <p:nvPr/>
        </p:nvSpPr>
        <p:spPr>
          <a:xfrm>
            <a:off x="1131570" y="4231386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1140"/>
              </a:buClr>
              <a:buSzPts val="1100"/>
              <a:buFont typeface="Calibri"/>
              <a:buNone/>
            </a:pPr>
            <a:r>
              <a:rPr b="1" i="0" lang="ja" sz="1100" u="none" cap="none" strike="noStrike">
                <a:solidFill>
                  <a:srgbClr val="1D1140"/>
                </a:solidFill>
                <a:latin typeface="Calibri"/>
                <a:ea typeface="Calibri"/>
                <a:cs typeface="Calibri"/>
                <a:sym typeface="Calibri"/>
              </a:rPr>
              <a:t>VRデバイスがなくても本格制作を体験できる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7"/>
          <p:cNvSpPr/>
          <p:nvPr/>
        </p:nvSpPr>
        <p:spPr>
          <a:xfrm>
            <a:off x="1131570" y="4519422"/>
            <a:ext cx="7475220" cy="288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900"/>
              <a:buFont typeface="Calibri"/>
              <a:buNone/>
            </a:pPr>
            <a:r>
              <a:rPr b="0" i="0" lang="ja" sz="9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ハッカソンの機材制約（BYOD、Quest 2台のみ）とも相性が良い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7"/>
          <p:cNvSpPr/>
          <p:nvPr/>
        </p:nvSpPr>
        <p:spPr>
          <a:xfrm>
            <a:off x="342900" y="4910328"/>
            <a:ext cx="54864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メタバースとは？｜ハッカソン導入資料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7"/>
          <p:cNvSpPr/>
          <p:nvPr/>
        </p:nvSpPr>
        <p:spPr>
          <a:xfrm>
            <a:off x="8572500" y="4910328"/>
            <a:ext cx="27432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6690"/>
              </a:buClr>
              <a:buSzPts val="700"/>
              <a:buFont typeface="Calibri"/>
              <a:buNone/>
            </a:pPr>
            <a:r>
              <a:rPr b="0" i="0" lang="ja" sz="700" u="none" cap="none" strike="noStrike">
                <a:solidFill>
                  <a:srgbClr val="6B669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